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18">
              <a:alpha val="82000"/>
            </a:srgbClr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0220" y="50292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8695" y="50292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76075" y="50292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35508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0220" y="571500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48695" y="635508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76075" y="571500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rifan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051560"/>
            <a:ext cx="1719048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3063240"/>
            <a:ext cx="94484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6000" b="1">
                <a:solidFill>
                  <a:srgbClr val="D9C9A8"/>
                </a:solidFill>
                <a:latin typeface="El Messiri"/>
                <a:cs typeface="El Messiri"/>
                <a:ea typeface="El Messiri"/>
              </a:rPr>
              <a:t>رِفان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6908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2200" b="0">
                <a:solidFill>
                  <a:srgbClr val="FBF9F6"/>
                </a:solidFill>
                <a:latin typeface="Tajawal"/>
                <a:cs typeface="Tajawal"/>
                <a:ea typeface="Tajawal"/>
              </a:rPr>
              <a:t>إدارة وتشغيل الوحدات السكنية للإيجار قصير المدى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0007" y="4892040"/>
            <a:ext cx="2011680" cy="190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074920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spc="40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PROFESSIONAL SHORT-TERM RENTAL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97880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200" b="0">
                <a:solidFill>
                  <a:srgbClr val="D9C9A8"/>
                </a:solidFill>
                <a:latin typeface="Tajawal"/>
                <a:cs typeface="Tajawal"/>
                <a:ea typeface="Tajawal"/>
              </a:rPr>
              <a:t>عرض تقديمي للخدمات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محتويات العرض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96596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5815" y="216255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5" y="220370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من نحن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01752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65815" y="321411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325526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رحلة المالك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406908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65815" y="426567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430682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خدماتنا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512064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65815" y="531723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415" y="535838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آلية العمل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96596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57800" y="216255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20370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لماذا رِفان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1752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57800" y="321411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5526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منصات الحجز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6908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426567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0682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قصص نجاح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20640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57800" y="5317236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5838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الأسئلة الشائعة والتواصل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ABOUT RIFAN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رِفان... أكثر من إدارة وحدة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65960"/>
            <a:ext cx="7406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60000"/>
              </a:lnSpc>
              <a:spcAft>
                <a:spcPts val="1400"/>
              </a:spcAft>
            </a:pPr>
            <a:r>
              <a:rPr sz="16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في رِفان، نؤمن أن نجاح الوحدة السكنية لا يعتمد على عرضها فقط، بل على جودة إدارتها اليومية والتفاصيل التي تصنع تجربة الضيف.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نتولى إدارة وتشغيل الوحدة باحترافية، من إدارة الحجوزات وخدمة الضيوف إلى التنسيق مع فرق التنظيف والصيانة، ومتابعة الأداء والتقييمات.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4572000"/>
            <a:ext cx="50292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470916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spc="300">
                <a:solidFill>
                  <a:srgbClr val="877E70"/>
                </a:solidFill>
                <a:latin typeface="Marcellus"/>
                <a:cs typeface="Marcellus"/>
                <a:ea typeface="Marcellus"/>
              </a:rPr>
              <a:t>Professional Short-Term Rental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783080"/>
            <a:ext cx="3200400" cy="3977639"/>
          </a:xfrm>
          <a:prstGeom prst="rect">
            <a:avLst/>
          </a:prstGeom>
          <a:noFill/>
          <a:ln w="1524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bout_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3200400" cy="3977639"/>
          </a:xfrm>
          <a:prstGeom prst="rect">
            <a:avLst/>
          </a:prstGeom>
        </p:spPr>
      </p:pic>
      <p:pic>
        <p:nvPicPr>
          <p:cNvPr id="11" name="Picture 10" descr="about_small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663440"/>
            <a:ext cx="1737360" cy="13030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8920" y="4663440"/>
            <a:ext cx="1737360" cy="1303020"/>
          </a:xfrm>
          <a:prstGeom prst="rect">
            <a:avLst/>
          </a:prstGeom>
          <a:noFill/>
          <a:ln w="44450">
            <a:solidFill>
              <a:srgbClr val="FBF9F6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34440" y="55778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11D18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0" spc="300">
                <a:solidFill>
                  <a:srgbClr val="B08D4F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OUR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لمحة من وحدات تديرها رِفان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pic>
        <p:nvPicPr>
          <p:cNvPr id="6" name="Picture 5" descr="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011680"/>
            <a:ext cx="3611880" cy="2651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80" y="2011680"/>
            <a:ext cx="3611880" cy="2651760"/>
          </a:xfrm>
          <a:prstGeom prst="rect">
            <a:avLst/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480060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غرف نوم بلمسة ضيافة فاخرة</a:t>
            </a:r>
          </a:p>
        </p:txBody>
      </p:sp>
      <p:pic>
        <p:nvPicPr>
          <p:cNvPr id="9" name="Picture 8" descr="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2011680"/>
            <a:ext cx="3611880" cy="2651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87952" y="2011680"/>
            <a:ext cx="3611880" cy="2651760"/>
          </a:xfrm>
          <a:prstGeom prst="rect">
            <a:avLst/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480060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مساحات معيشة مريحة وأنيقة</a:t>
            </a:r>
          </a:p>
        </p:txBody>
      </p:sp>
      <p:pic>
        <p:nvPicPr>
          <p:cNvPr id="12" name="Picture 11" descr="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011680"/>
            <a:ext cx="3611880" cy="2651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0624" y="2011680"/>
            <a:ext cx="3611880" cy="2651760"/>
          </a:xfrm>
          <a:prstGeom prst="rect">
            <a:avLst/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480060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تفاصيل مصممة لتجربة ضيف متكاملة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350" b="0">
                <a:solidFill>
                  <a:srgbClr val="96763A"/>
                </a:solidFill>
                <a:latin typeface="Tajawal"/>
                <a:cs typeface="Tajawal"/>
                <a:ea typeface="Tajawal"/>
              </a:rPr>
              <a:t>التجهيز والتصوير الاحترافي جزء من خطة التشغيل التي نبدأ بها كل وحدة جديدة.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OWNER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رحلة المالك مع رِفان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37744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211D18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26396" y="2697480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3383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2000" b="1">
                <a:solidFill>
                  <a:srgbClr val="B08D4F"/>
                </a:solidFill>
                <a:latin typeface="El Messiri"/>
                <a:cs typeface="El Messiri"/>
                <a:ea typeface="El Messiri"/>
              </a:rPr>
              <a:t>أنت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39319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FBF9F6"/>
                </a:solidFill>
                <a:latin typeface="Tajawal"/>
                <a:cs typeface="Tajawal"/>
                <a:ea typeface="Tajawal"/>
              </a:rPr>
              <a:t>تملك الوحدة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37744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19188" y="2697480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383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20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رِفان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319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تتولى الإدارة والتشغيل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237744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1980" y="2697480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3383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20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الضيف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9319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يحصل على تجربة متكاملة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" y="237744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211D18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04772" y="2697480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383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2000" b="1">
                <a:solidFill>
                  <a:srgbClr val="B08D4F"/>
                </a:solidFill>
                <a:latin typeface="El Messiri"/>
                <a:cs typeface="El Messiri"/>
                <a:ea typeface="El Messiri"/>
              </a:rPr>
              <a:t>أنت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9319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00" b="0">
                <a:solidFill>
                  <a:srgbClr val="FBF9F6"/>
                </a:solidFill>
                <a:latin typeface="Tajawal"/>
                <a:cs typeface="Tajawal"/>
                <a:ea typeface="Tajawal"/>
              </a:rPr>
              <a:t>تتابع أداء وحدتك بوضوح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400" b="0">
                <a:solidFill>
                  <a:srgbClr val="96763A"/>
                </a:solidFill>
                <a:latin typeface="Tajawal"/>
                <a:cs typeface="Tajawal"/>
                <a:ea typeface="Tajawal"/>
              </a:rPr>
              <a:t>الوحدة تبقى ملكك بالكامل — ورِفان شريك التشغيل الذي يحوّلها إلى تجربة ضيافة رابحة.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OUR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خدماتنا  ١ / ٢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9659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23599" y="219456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74375" y="222199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8135" y="2240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إدارة الحجوزات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8135" y="283464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متابعة الحجوزات وتنظيمها وإدارة تفاصيل الإقامة.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9864" y="219456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0640" y="222199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40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خدمة الضيوف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التواصل مع الضيوف ومتابعة احتياجاتهم قبل وأثناء وبعد الإقامة.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3815" y="40690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23599" y="429768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74375" y="432511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8135" y="43434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التشغيل اليومي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8135" y="493776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إدارة التفاصيل التشغيلية للوحدة ومتابعة سير العمل.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9864" y="429768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20640" y="432511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التنظيف والتجهيز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تنسيق أعمال التنظيف وتجهيز الوحدة بما يضمن جاهزيتها للضيف.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OUR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خدماتنا  ٢ / ٢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9659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23599" y="219456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74375" y="222199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8135" y="2240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الصيانة والمتابعة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8135" y="283464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متابعة احتياجات الصيانة والتنسيق لمعالجة الملاحظات والمشكلات.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9864" y="219456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0640" y="222199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40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إدارة المنصات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إدارة حسابات ومنصات الإيجار قصير المدى وتحسين ظهور الوحدة.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3815" y="40690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23599" y="429768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74375" y="432511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8135" y="43434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إدارة التقييمات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8135" y="493776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متابعة تقييمات الضيوف وتحسين تجربة الإقامة وبناء سمعة أفضل للوحدة.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9864" y="4297680"/>
            <a:ext cx="30480" cy="141732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20640" y="4325112"/>
            <a:ext cx="475488" cy="475488"/>
          </a:xfrm>
          <a:prstGeom prst="ellipse">
            <a:avLst/>
          </a:prstGeom>
          <a:noFill/>
          <a:ln w="1397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متابعة الأداء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متابعة مؤشرات الأداء والإشغال والإيرادات وتقديم رؤية واضحة للمالك.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آلية العمل — من التعرّف إلى النتائج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98064"/>
            <a:ext cx="10515600" cy="19050"/>
          </a:xfrm>
          <a:prstGeom prst="rect">
            <a:avLst/>
          </a:prstGeom>
          <a:solidFill>
            <a:srgbClr val="D9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72700" y="2542032"/>
            <a:ext cx="512064" cy="512064"/>
          </a:xfrm>
          <a:prstGeom prst="ellipse">
            <a:avLst/>
          </a:prstGeom>
          <a:solidFill>
            <a:srgbClr val="211D18"/>
          </a:solidFill>
          <a:ln w="1905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5752" y="3310128"/>
            <a:ext cx="20025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00" b="1">
                <a:solidFill>
                  <a:srgbClr val="211D18"/>
                </a:solidFill>
                <a:latin typeface="Tajawal"/>
                <a:cs typeface="Tajawal"/>
                <a:ea typeface="Tajawal"/>
              </a:rPr>
              <a:t>نتعرف على وحدتك</a:t>
            </a:r>
          </a:p>
        </p:txBody>
      </p:sp>
      <p:sp>
        <p:nvSpPr>
          <p:cNvPr id="9" name="Oval 8"/>
          <p:cNvSpPr/>
          <p:nvPr/>
        </p:nvSpPr>
        <p:spPr>
          <a:xfrm>
            <a:off x="8343900" y="2542032"/>
            <a:ext cx="512064" cy="512064"/>
          </a:xfrm>
          <a:prstGeom prst="ellipse">
            <a:avLst/>
          </a:prstGeom>
          <a:solidFill>
            <a:srgbClr val="211D18"/>
          </a:solidFill>
          <a:ln w="1905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3310128"/>
            <a:ext cx="20025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00" b="1">
                <a:solidFill>
                  <a:srgbClr val="211D18"/>
                </a:solidFill>
                <a:latin typeface="Tajawal"/>
                <a:cs typeface="Tajawal"/>
                <a:ea typeface="Tajawal"/>
              </a:rPr>
              <a:t>نجهّز خطة التشغيل</a:t>
            </a:r>
          </a:p>
        </p:txBody>
      </p:sp>
      <p:sp>
        <p:nvSpPr>
          <p:cNvPr id="11" name="Oval 10"/>
          <p:cNvSpPr/>
          <p:nvPr/>
        </p:nvSpPr>
        <p:spPr>
          <a:xfrm>
            <a:off x="6515100" y="2542032"/>
            <a:ext cx="512064" cy="512064"/>
          </a:xfrm>
          <a:prstGeom prst="ellipse">
            <a:avLst/>
          </a:prstGeom>
          <a:solidFill>
            <a:srgbClr val="211D18"/>
          </a:solidFill>
          <a:ln w="1905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3310128"/>
            <a:ext cx="20025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00" b="1">
                <a:solidFill>
                  <a:srgbClr val="211D18"/>
                </a:solidFill>
                <a:latin typeface="Tajawal"/>
                <a:cs typeface="Tajawal"/>
                <a:ea typeface="Tajawal"/>
              </a:rPr>
              <a:t>نبدأ الإدارة والتشغيل</a:t>
            </a:r>
          </a:p>
        </p:txBody>
      </p:sp>
      <p:sp>
        <p:nvSpPr>
          <p:cNvPr id="13" name="Oval 12"/>
          <p:cNvSpPr/>
          <p:nvPr/>
        </p:nvSpPr>
        <p:spPr>
          <a:xfrm>
            <a:off x="4686300" y="2542032"/>
            <a:ext cx="512064" cy="512064"/>
          </a:xfrm>
          <a:prstGeom prst="ellipse">
            <a:avLst/>
          </a:prstGeom>
          <a:solidFill>
            <a:srgbClr val="211D18"/>
          </a:solidFill>
          <a:ln w="1905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3310128"/>
            <a:ext cx="20025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00" b="1">
                <a:solidFill>
                  <a:srgbClr val="211D18"/>
                </a:solidFill>
                <a:latin typeface="Tajawal"/>
                <a:cs typeface="Tajawal"/>
                <a:ea typeface="Tajawal"/>
              </a:rPr>
              <a:t>نتابع الضيوف والحجوزات</a:t>
            </a:r>
          </a:p>
        </p:txBody>
      </p:sp>
      <p:sp>
        <p:nvSpPr>
          <p:cNvPr id="15" name="Oval 14"/>
          <p:cNvSpPr/>
          <p:nvPr/>
        </p:nvSpPr>
        <p:spPr>
          <a:xfrm>
            <a:off x="2857500" y="2542032"/>
            <a:ext cx="512064" cy="512064"/>
          </a:xfrm>
          <a:prstGeom prst="ellipse">
            <a:avLst/>
          </a:prstGeom>
          <a:solidFill>
            <a:srgbClr val="211D18"/>
          </a:solidFill>
          <a:ln w="1905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3310128"/>
            <a:ext cx="20025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00" b="1">
                <a:solidFill>
                  <a:srgbClr val="211D18"/>
                </a:solidFill>
                <a:latin typeface="Tajawal"/>
                <a:cs typeface="Tajawal"/>
                <a:ea typeface="Tajawal"/>
              </a:rPr>
              <a:t>نراقب الأداء والتقييمات</a:t>
            </a:r>
          </a:p>
        </p:txBody>
      </p:sp>
      <p:sp>
        <p:nvSpPr>
          <p:cNvPr id="17" name="Oval 16"/>
          <p:cNvSpPr/>
          <p:nvPr/>
        </p:nvSpPr>
        <p:spPr>
          <a:xfrm>
            <a:off x="1028700" y="2542032"/>
            <a:ext cx="512064" cy="512064"/>
          </a:xfrm>
          <a:prstGeom prst="ellipse">
            <a:avLst/>
          </a:prstGeom>
          <a:solidFill>
            <a:srgbClr val="211D18"/>
          </a:solidFill>
          <a:ln w="1905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" y="3310128"/>
            <a:ext cx="20025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00" b="1">
                <a:solidFill>
                  <a:srgbClr val="211D18"/>
                </a:solidFill>
                <a:latin typeface="Tajawal"/>
                <a:cs typeface="Tajawal"/>
                <a:ea typeface="Tajawal"/>
              </a:rPr>
              <a:t>نرفع مستوى التجربة باستمرار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400" b="0">
                <a:solidFill>
                  <a:srgbClr val="96763A"/>
                </a:solidFill>
                <a:latin typeface="Tajawal"/>
                <a:cs typeface="Tajawal"/>
                <a:ea typeface="Tajawal"/>
              </a:rPr>
              <a:t>التقييم الأولي وخطة التشغيل — بدون أي رسوم مقدمة. أتعابنا مرتبطة بالنتائج الفعلية.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WHY RIFAN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لماذا رِفان؟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0116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18520" y="2331720"/>
            <a:ext cx="320040" cy="444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2468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إدارة متكاملة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971800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لا نترك المالك أمام تفاصيل التشغيل اليومية.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20116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51192" y="2331720"/>
            <a:ext cx="320040" cy="444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468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تجربة ضيافة احترافية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971800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نهتم بالتفاصيل التي تصنع الفرق في تجربة الضيف.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0116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4" y="2331720"/>
            <a:ext cx="320040" cy="444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468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متابعة مستمرة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971800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نراقب التشغيل والحجوزات والتقييمات والأداء.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40690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18520" y="4389120"/>
            <a:ext cx="320040" cy="444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حل واحد للمالك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029200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من الحجوزات إلى التنظيف والصيانة وخدمة الضيوف.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40690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51192" y="4389120"/>
            <a:ext cx="320040" cy="444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شفافية في الأداء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5029200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المالك على اطلاع واضح على أداء وحدته.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40690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83864" y="4389120"/>
            <a:ext cx="320040" cy="444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خبرة تشغيلية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5029200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نعتمد على خبرة عملية وفريق متخصص في تشغيل الوحدات.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BOOKING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FBF9F6"/>
                </a:solidFill>
                <a:latin typeface="El Messiri"/>
                <a:cs typeface="El Messiri"/>
                <a:ea typeface="El Messiri"/>
              </a:rPr>
              <a:t>نُدير وحدتك على كبرى منصات الحجز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tform_pa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4023360" cy="4069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965960"/>
            <a:ext cx="4023360" cy="4069080"/>
          </a:xfrm>
          <a:prstGeom prst="rect">
            <a:avLst/>
          </a:prstGeom>
          <a:noFill/>
          <a:ln w="1524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965960"/>
            <a:ext cx="6446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500" b="0">
                <a:solidFill>
                  <a:srgbClr val="F4F0E9"/>
                </a:solidFill>
                <a:latin typeface="Tajawal"/>
                <a:cs typeface="Tajawal"/>
                <a:ea typeface="Tajawal"/>
              </a:rPr>
              <a:t>إدارة حسابات الوحدة، تحسين الإعلان والصور والتسعير، ومزامنة التقويمات — لتحقيق أعلى إشغال وأفضل عائد.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108960"/>
            <a:ext cx="6263640" cy="53035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2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AIRBNB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712464"/>
            <a:ext cx="6263640" cy="53035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2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BOOKING.COM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315968"/>
            <a:ext cx="6263640" cy="53035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2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GATHERN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919472"/>
            <a:ext cx="6263640" cy="53035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2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EXPEDIA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5522976"/>
            <a:ext cx="6263640" cy="53035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2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TRIP.COM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877E70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قصص نجاح — أرقام تتحدث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01168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011680"/>
            <a:ext cx="3611880" cy="1554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55280" y="2011680"/>
            <a:ext cx="3611880" cy="1554480"/>
          </a:xfrm>
          <a:prstGeom prst="rect">
            <a:avLst/>
          </a:prstGeom>
          <a:solidFill>
            <a:srgbClr val="211D18">
              <a:alpha val="72000"/>
            </a:srgbClr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9572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+41%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3794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ارتفاع معدل الإشغال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4297680"/>
            <a:ext cx="45720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4480560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وحدة بغرفة واحدة انتقلت من إشغال متذبذب إلى إشغال مستقر خلال أول أربعة أشهر من التشغيل.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201168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2011680"/>
            <a:ext cx="3611880" cy="15544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87952" y="2011680"/>
            <a:ext cx="3611880" cy="1554480"/>
          </a:xfrm>
          <a:prstGeom prst="rect">
            <a:avLst/>
          </a:prstGeom>
          <a:solidFill>
            <a:srgbClr val="211D18">
              <a:alpha val="72000"/>
            </a:srgbClr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239572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+38%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3794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نمو متوسط الإيراد الشهري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2592" y="4297680"/>
            <a:ext cx="45720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4480560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إعادة بناء التسعير وتحسين الظهور على منصات الحجز رفع متوسط الإيراد الشهري للوحدة.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201168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011680"/>
            <a:ext cx="3611880" cy="15544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20624" y="2011680"/>
            <a:ext cx="3611880" cy="1554480"/>
          </a:xfrm>
          <a:prstGeom prst="rect">
            <a:avLst/>
          </a:prstGeom>
          <a:solidFill>
            <a:srgbClr val="211D18">
              <a:alpha val="72000"/>
            </a:srgbClr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39572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4.9/5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94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تقييم الضيوف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55264" y="4297680"/>
            <a:ext cx="45720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480560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متابعة احترافية لخدمة الضيوف والتقييمات حوّلت الوحدة إلى خيار موثوق ومفضّل.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أسئلة يسألها كل مالك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9840" y="1481328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500">
                <a:solidFill>
                  <a:srgbClr val="E6DFD2"/>
                </a:solidFill>
                <a:latin typeface="Marcellus"/>
                <a:cs typeface="Marcellus"/>
                <a:ea typeface="Marcellus"/>
              </a:rPr>
              <a:t>RIFAN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65960"/>
            <a:ext cx="53949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2219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5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س:  </a:t>
            </a:r>
            <a:r>
              <a:rPr sz="15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هل تبقى الوحدة مسجلة باسمي؟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8346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نعم، دائمًا. نعمل بعقد إدارة وتشغيل يوثّق ملكيتك الكاملة للوحدة، ونتولى فقط إدارتها وتشغيلها.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965960"/>
            <a:ext cx="53949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219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5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س:  </a:t>
            </a:r>
            <a:r>
              <a:rPr sz="15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كيف أتابع أداء وحدتي؟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346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تقارير دورية واضحة تشمل الإشغال والإيرادات وتقييمات الضيوف، مع تواصل مباشر مع فريقنا.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3949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3251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5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س:  </a:t>
            </a:r>
            <a:r>
              <a:rPr sz="15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هل توجد رسوم قبل بدء التشغيل؟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9377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التقييم الأولي وخطة التشغيل بدون رسوم. أتعابنا مرتبطة بالنتائج الفعلية.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4069080"/>
            <a:ext cx="53949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251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500" b="1">
                <a:solidFill>
                  <a:srgbClr val="96763A"/>
                </a:solidFill>
                <a:latin typeface="El Messiri"/>
                <a:cs typeface="El Messiri"/>
                <a:ea typeface="El Messiri"/>
              </a:rPr>
              <a:t>س:  </a:t>
            </a:r>
            <a:r>
              <a:rPr sz="1500" b="1">
                <a:solidFill>
                  <a:srgbClr val="211D18"/>
                </a:solidFill>
                <a:latin typeface="El Messiri"/>
                <a:cs typeface="El Messiri"/>
                <a:ea typeface="El Messiri"/>
              </a:rPr>
              <a:t>هل يمكنني إيقاف التعاون في أي وقت؟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9377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50" b="0">
                <a:solidFill>
                  <a:srgbClr val="4A443C"/>
                </a:solidFill>
                <a:latin typeface="Tajawal"/>
                <a:cs typeface="Tajawal"/>
                <a:ea typeface="Tajawal"/>
              </a:rPr>
              <a:t>عقد مرن بفترة إشعار مسبق متفق عليها — بدون التزامات طويلة المدى.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0220" y="50292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48695" y="50292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76075" y="50292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0220" y="571500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48695" y="635508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76075" y="571500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35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CONTACT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200" b="1">
                <a:solidFill>
                  <a:srgbClr val="FBF9F6"/>
                </a:solidFill>
                <a:latin typeface="El Messiri"/>
                <a:cs typeface="El Messiri"/>
                <a:ea typeface="El Messiri"/>
              </a:rPr>
              <a:t>تواصل معنا — امسح الرمز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627632"/>
            <a:ext cx="146304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3807" y="2148840"/>
            <a:ext cx="3017520" cy="3566160"/>
          </a:xfrm>
          <a:prstGeom prst="roundRect">
            <a:avLst>
              <a:gd name="adj" fmla="val 5000"/>
            </a:avLst>
          </a:prstGeom>
          <a:solidFill>
            <a:srgbClr val="FBF9F6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2468880"/>
            <a:ext cx="210312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6687" y="4709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spc="2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6687" y="5120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A443C"/>
                </a:solidFill>
                <a:latin typeface="Marcellus"/>
                <a:cs typeface="Marcellus"/>
                <a:ea typeface="Marcellus"/>
              </a:rPr>
              <a:t>+966 50 093 9971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7087" y="2148840"/>
            <a:ext cx="3017520" cy="3566160"/>
          </a:xfrm>
          <a:prstGeom prst="roundRect">
            <a:avLst>
              <a:gd name="adj" fmla="val 5000"/>
            </a:avLst>
          </a:prstGeom>
          <a:solidFill>
            <a:srgbClr val="FBF9F6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87" y="2468880"/>
            <a:ext cx="2103120" cy="2103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9967" y="4709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spc="2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9967" y="5120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A443C"/>
                </a:solidFill>
                <a:latin typeface="Marcellus"/>
                <a:cs typeface="Marcellus"/>
                <a:ea typeface="Marcellus"/>
              </a:rPr>
              <a:t>I0.rifan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0367" y="2148840"/>
            <a:ext cx="3017520" cy="3566160"/>
          </a:xfrm>
          <a:prstGeom prst="roundRect">
            <a:avLst>
              <a:gd name="adj" fmla="val 5000"/>
            </a:avLst>
          </a:prstGeom>
          <a:solidFill>
            <a:srgbClr val="FBF9F6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567" y="2468880"/>
            <a:ext cx="2103120" cy="210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53247" y="4709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spc="250">
                <a:solidFill>
                  <a:srgbClr val="96763A"/>
                </a:solidFill>
                <a:latin typeface="Marcellus"/>
                <a:cs typeface="Marcellus"/>
                <a:ea typeface="Marcellus"/>
              </a:rPr>
              <a:t>TIKTOK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3247" y="5120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A443C"/>
                </a:solidFill>
                <a:latin typeface="Marcellus"/>
                <a:cs typeface="Marcellus"/>
                <a:ea typeface="Marcellus"/>
              </a:rPr>
              <a:t>@I0.rifan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89320"/>
            <a:ext cx="94484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500" b="0">
                <a:solidFill>
                  <a:srgbClr val="D9C9A8"/>
                </a:solidFill>
                <a:latin typeface="Tajawal"/>
                <a:cs typeface="Tajawal"/>
                <a:ea typeface="Tajawal"/>
              </a:rPr>
              <a:t>البريد الإلكتروني:  b.rifan.mk@gmail.com  ·  واتساب: ‎+966 50 093 9971‎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18">
              <a:alpha val="85000"/>
            </a:srgbClr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2700">
            <a:solidFill>
              <a:srgbClr val="B08D4F"/>
            </a:solidFill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0220" y="50292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8695" y="50292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76075" y="50292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35508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0220" y="571500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48695" y="6355080"/>
            <a:ext cx="640080" cy="2540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76075" y="5715000"/>
            <a:ext cx="25400" cy="64008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rifan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7" y="1371600"/>
            <a:ext cx="1461191" cy="1554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320040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3400" b="1">
                <a:solidFill>
                  <a:srgbClr val="FBF9F6"/>
                </a:solidFill>
                <a:latin typeface="El Messiri"/>
                <a:cs typeface="El Messiri"/>
                <a:ea typeface="El Messiri"/>
              </a:rPr>
              <a:t>وحدتك تستحق إدارة بمستوى ضيافة فاخر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0007" y="4114800"/>
            <a:ext cx="2011680" cy="19050"/>
          </a:xfrm>
          <a:prstGeom prst="rect">
            <a:avLst/>
          </a:prstGeom>
          <a:solidFill>
            <a:srgbClr val="B08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34340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spc="350">
                <a:solidFill>
                  <a:srgbClr val="D9C9A8"/>
                </a:solidFill>
                <a:latin typeface="Marcellus"/>
                <a:cs typeface="Marcellus"/>
                <a:ea typeface="Marcellus"/>
              </a:rPr>
              <a:t>Luxury Hospitality + Professional Property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400" b="0">
                <a:solidFill>
                  <a:srgbClr val="877E70"/>
                </a:solidFill>
                <a:latin typeface="Tajawal"/>
                <a:cs typeface="Tajawal"/>
                <a:ea typeface="Tajawal"/>
              </a:rPr>
              <a:t>رِفان  ·  إدارة وتشغيل الوحدات السكنية للإيجار قصير المدى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200" b="0">
                <a:solidFill>
                  <a:srgbClr val="D9C9A8"/>
                </a:solidFill>
                <a:latin typeface="Tajawal"/>
                <a:cs typeface="Tajawal"/>
                <a:ea typeface="Tajawal"/>
              </a:rPr>
              <a:t>‎+966 50 093 9971‎  (واتساب)   ·   ‎b.rifan.mk@gmail.com‎   ·   ‎instagram.com/I0.rifan‎   ·   ‎tiktok.com/@I0.rifan‎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